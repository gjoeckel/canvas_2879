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4" r:id="rId4"/>
  </p:sldMasterIdLst>
  <p:notesMasterIdLst>
    <p:notesMasterId r:id="rId9"/>
  </p:notesMasterIdLst>
  <p:sldIdLst>
    <p:sldId id="256" r:id="rId5"/>
    <p:sldId id="259" r:id="rId6"/>
    <p:sldId id="261" r:id="rId7"/>
    <p:sldId id="257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58" autoAdjust="0"/>
    <p:restoredTop sz="93969" autoAdjust="0"/>
  </p:normalViewPr>
  <p:slideViewPr>
    <p:cSldViewPr snapToGrid="0">
      <p:cViewPr>
        <p:scale>
          <a:sx n="100" d="100"/>
          <a:sy n="100" d="100"/>
        </p:scale>
        <p:origin x="46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FC82E2-3434-4F8F-B24D-E09295921497}" type="datetimeFigureOut">
              <a:rPr lang="en-US" smtClean="0"/>
              <a:t>7/1/2022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93C6C-82EA-4D9D-AA8A-69C85F2EE2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326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539117B-1405-4997-81DF-D47685487591}" type="datetime1">
              <a:rPr lang="en-US" smtClean="0"/>
              <a:t>7/1/2022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87957-4685-4AAA-AC15-17027EB8CE3B}" type="datetime1">
              <a:rPr lang="en-US" smtClean="0"/>
              <a:t>7/1/2022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02546-CD2F-49E1-B1D0-A834B66B5E2F}" type="datetime1">
              <a:rPr lang="en-US" smtClean="0"/>
              <a:t>7/1/2022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815D2-491A-4C11-867A-1AADC7361863}" type="datetime1">
              <a:rPr lang="en-US" smtClean="0"/>
              <a:t>7/1/2022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CC7DB-A260-4317-B84F-54DF88D675D3}" type="datetime1">
              <a:rPr lang="en-US" smtClean="0"/>
              <a:t>7/1/2022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632A5-C0DB-45B3-9A28-AA7E7B5E7621}" type="datetime1">
              <a:rPr lang="en-US" smtClean="0"/>
              <a:t>7/1/2022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6FDAC-91B9-467F-9D59-FECADBF43D47}" type="datetime1">
              <a:rPr lang="en-US" smtClean="0"/>
              <a:t>7/1/2022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1332A-5D1A-4A68-8DC3-3FC24CFC5B34}" type="datetime1">
              <a:rPr lang="en-US" smtClean="0"/>
              <a:t>7/1/2022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7A8BF-B3DA-48FF-989E-13589D6975D0}" type="datetime1">
              <a:rPr lang="en-US" smtClean="0"/>
              <a:t>7/1/2022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AD327-AB58-4897-AF71-6D19B63EA53A}" type="datetime1">
              <a:rPr lang="en-US" smtClean="0"/>
              <a:t>7/1/2022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0F879-CB5E-4D5D-8720-D92DA7AE545E}" type="datetime1">
              <a:rPr lang="en-US" smtClean="0"/>
              <a:t>7/1/2022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46146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ixed-Title-Slide-fore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5C5C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5C5C5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5C5C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66948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-changed-background">
    <p:bg>
      <p:bgPr>
        <a:solidFill>
          <a:srgbClr val="8D9C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rgbClr val="8D9C2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8992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53B4EE1E-2631-4416-BD05-4FE45075E299}" type="datetime1">
              <a:rPr lang="en-US" smtClean="0"/>
              <a:t>7/1/2022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7AFFF-1EEE-1FF5-C6CF-41D0E3A1C2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Contrast: Part </a:t>
            </a:r>
            <a:r>
              <a:rPr lang="en-US" sz="9600" dirty="0"/>
              <a:t>2</a:t>
            </a:r>
            <a:br>
              <a:rPr lang="en-US" sz="9600" dirty="0"/>
            </a:br>
            <a:r>
              <a:rPr lang="en-US" dirty="0"/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535281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85E7D-5E1B-C53B-A24C-03EB83FDD0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Changed</a:t>
            </a:r>
            <a:br>
              <a:rPr lang="en-US" dirty="0"/>
            </a:br>
            <a:r>
              <a:rPr lang="en-US" dirty="0"/>
              <a:t>Foreground</a:t>
            </a:r>
          </a:p>
        </p:txBody>
      </p:sp>
    </p:spTree>
    <p:extLst>
      <p:ext uri="{BB962C8B-B14F-4D97-AF65-F5344CB8AC3E}">
        <p14:creationId xmlns:p14="http://schemas.microsoft.com/office/powerpoint/2010/main" val="2657462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CFB98-AF2F-FAA6-B18A-4BE32DF893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Changed</a:t>
            </a:r>
            <a:br>
              <a:rPr lang="en-US" dirty="0"/>
            </a:br>
            <a:r>
              <a:rPr lang="en-US" dirty="0"/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423412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EC70F-17E6-6E0A-B272-B88626FC7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949494"/>
                </a:solidFill>
              </a:rPr>
              <a:t>WCAG “Large Text” in PowerPoint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9460F-A3B1-A902-9465-97B1B19B2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A6B727"/>
                </a:solidFill>
              </a:rPr>
              <a:t>Default body text</a:t>
            </a:r>
          </a:p>
          <a:p>
            <a:pPr lvl="1"/>
            <a:r>
              <a:rPr lang="en-US" sz="2200" dirty="0">
                <a:solidFill>
                  <a:srgbClr val="A6B727"/>
                </a:solidFill>
              </a:rPr>
              <a:t>22-point font</a:t>
            </a:r>
          </a:p>
          <a:p>
            <a:pPr lvl="1"/>
            <a:r>
              <a:rPr lang="en-US" sz="2200" dirty="0">
                <a:solidFill>
                  <a:srgbClr val="A6B727"/>
                </a:solidFill>
              </a:rPr>
              <a:t>2.2:1 contrast ratio</a:t>
            </a:r>
          </a:p>
          <a:p>
            <a:r>
              <a:rPr lang="en-US" sz="1800" dirty="0"/>
              <a:t>WCAG “Large Text”</a:t>
            </a:r>
          </a:p>
          <a:p>
            <a:pPr lvl="1"/>
            <a:r>
              <a:rPr lang="en-US" sz="1600" dirty="0"/>
              <a:t>18-p0int font</a:t>
            </a:r>
          </a:p>
          <a:p>
            <a:pPr lvl="1"/>
            <a:r>
              <a:rPr lang="en-US" sz="1600" dirty="0"/>
              <a:t>3:1 contrast ratio</a:t>
            </a:r>
          </a:p>
          <a:p>
            <a:r>
              <a:rPr lang="en-US" sz="3200" dirty="0">
                <a:solidFill>
                  <a:srgbClr val="5C5C5C"/>
                </a:solidFill>
              </a:rPr>
              <a:t>Recommended minimums</a:t>
            </a:r>
          </a:p>
          <a:p>
            <a:pPr lvl="1"/>
            <a:r>
              <a:rPr lang="en-US" sz="3200" dirty="0">
                <a:solidFill>
                  <a:srgbClr val="5C5C5C"/>
                </a:solidFill>
              </a:rPr>
              <a:t>32-point font</a:t>
            </a:r>
          </a:p>
          <a:p>
            <a:pPr lvl="1"/>
            <a:r>
              <a:rPr lang="en-US" sz="3200" dirty="0">
                <a:solidFill>
                  <a:srgbClr val="5C5C5C"/>
                </a:solidFill>
              </a:rPr>
              <a:t>4.5:1 contrast ratio</a:t>
            </a:r>
          </a:p>
        </p:txBody>
      </p:sp>
    </p:spTree>
    <p:extLst>
      <p:ext uri="{BB962C8B-B14F-4D97-AF65-F5344CB8AC3E}">
        <p14:creationId xmlns:p14="http://schemas.microsoft.com/office/powerpoint/2010/main" val="251721370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0915EF7-B9F6-4EB7-AA4F-557BE6AB702C}">
  <ds:schemaRefs>
    <ds:schemaRef ds:uri="71af3243-3dd4-4a8d-8c0d-dd76da1f02a5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16c05727-aa75-4e4a-9b5f-8a80a1165891"/>
    <ds:schemaRef ds:uri="http://schemas.microsoft.com/office/2006/metadata/properties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F465D742-03F8-4A07-AD44-2F5940A9609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928E4D0-782D-4812-BE7D-AE5131FD37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Basis design</Template>
  <TotalTime>305</TotalTime>
  <Words>44</Words>
  <Application>Microsoft Office PowerPoint</Application>
  <PresentationFormat>Widescreen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Calibri</vt:lpstr>
      <vt:lpstr>Corbel</vt:lpstr>
      <vt:lpstr>Basis</vt:lpstr>
      <vt:lpstr>Contrast: Part 2 Examples</vt:lpstr>
      <vt:lpstr>Changed Foreground</vt:lpstr>
      <vt:lpstr>Changed Background</vt:lpstr>
      <vt:lpstr>WCAG “Large Text” in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Contrast: Part 2 Examples</dc:title>
  <dc:creator>George Joeckel III</dc:creator>
  <cp:lastModifiedBy>George Joeckel III</cp:lastModifiedBy>
  <cp:revision>2</cp:revision>
  <dcterms:created xsi:type="dcterms:W3CDTF">2022-07-01T14:29:31Z</dcterms:created>
  <dcterms:modified xsi:type="dcterms:W3CDTF">2022-07-01T19:35:06Z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